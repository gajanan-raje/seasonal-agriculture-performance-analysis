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23"/>
  </p:notesMasterIdLst>
  <p:handoutMasterIdLst>
    <p:handoutMasterId r:id="rId24"/>
  </p:handoutMasterIdLst>
  <p:sldIdLst>
    <p:sldId id="338" r:id="rId5"/>
    <p:sldId id="327" r:id="rId6"/>
    <p:sldId id="315" r:id="rId7"/>
    <p:sldId id="329" r:id="rId8"/>
    <p:sldId id="302" r:id="rId9"/>
    <p:sldId id="339" r:id="rId10"/>
    <p:sldId id="340" r:id="rId11"/>
    <p:sldId id="344" r:id="rId12"/>
    <p:sldId id="345" r:id="rId13"/>
    <p:sldId id="346" r:id="rId14"/>
    <p:sldId id="347" r:id="rId15"/>
    <p:sldId id="348" r:id="rId16"/>
    <p:sldId id="349" r:id="rId17"/>
    <p:sldId id="350" r:id="rId18"/>
    <p:sldId id="341" r:id="rId19"/>
    <p:sldId id="342" r:id="rId20"/>
    <p:sldId id="343" r:id="rId21"/>
    <p:sldId id="304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419AE38-882F-1515-E21D-2DA2765CE3A3}" v="2" dt="2026-09-02T10:33:37.143"/>
    <p1510:client id="{BA573E70-4CE7-E3DA-403D-1D1B358A6CED}" v="45" dt="2026-09-02T10:11:53.372"/>
  </p1510:revLst>
</p1510:revInfo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85" autoAdjust="0"/>
    <p:restoredTop sz="95033" autoAdjust="0"/>
  </p:normalViewPr>
  <p:slideViewPr>
    <p:cSldViewPr snapToGrid="0">
      <p:cViewPr varScale="1">
        <p:scale>
          <a:sx n="72" d="100"/>
          <a:sy n="72" d="100"/>
        </p:scale>
        <p:origin x="576" y="78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9/5/2026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9/5/2026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9/5/2026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9/5/2026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9/5/2026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9/5/2026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75957" y="3588198"/>
            <a:ext cx="5808845" cy="861497"/>
          </a:xfrm>
        </p:spPr>
        <p:txBody>
          <a:bodyPr vert="horz" lIns="91440" tIns="45720" rIns="91440" bIns="45720" rtlCol="0" anchor="t">
            <a:normAutofit fontScale="85000" lnSpcReduction="10000"/>
          </a:bodyPr>
          <a:lstStyle/>
          <a:p>
            <a:r>
              <a:rPr lang="en-US" b="0" dirty="0">
                <a:solidFill>
                  <a:schemeClr val="tx1"/>
                </a:solidFill>
              </a:rPr>
              <a:t>Student Name-  Gajanan Harinarayan Raje </a:t>
            </a:r>
            <a:endParaRPr lang="en-IN" b="0" dirty="0">
              <a:solidFill>
                <a:schemeClr val="tx1"/>
              </a:solidFill>
            </a:endParaRPr>
          </a:p>
          <a:p>
            <a:r>
              <a:rPr lang="en-US" b="0" dirty="0">
                <a:solidFill>
                  <a:schemeClr val="tx1"/>
                </a:solidFill>
              </a:rPr>
              <a:t>College Name- MGM’s College of </a:t>
            </a:r>
            <a:r>
              <a:rPr lang="en-US" b="0" dirty="0" err="1">
                <a:solidFill>
                  <a:schemeClr val="tx1"/>
                </a:solidFill>
              </a:rPr>
              <a:t>Coumputer</a:t>
            </a:r>
            <a:r>
              <a:rPr lang="en-US" b="0" dirty="0">
                <a:solidFill>
                  <a:schemeClr val="tx1"/>
                </a:solidFill>
              </a:rPr>
              <a:t> Science &amp; IT</a:t>
            </a:r>
            <a:endParaRPr lang="en-IN" b="0" dirty="0">
              <a:solidFill>
                <a:schemeClr val="tx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363" y="2844750"/>
            <a:ext cx="9764349" cy="743448"/>
          </a:xfrm>
        </p:spPr>
        <p:txBody>
          <a:bodyPr>
            <a:normAutofit fontScale="90000"/>
          </a:bodyPr>
          <a:lstStyle/>
          <a:p>
            <a:r>
              <a:rPr lang="en-GB" sz="3200" dirty="0"/>
              <a:t>Project Title – Seasonal Agricultural Performance Analysis</a:t>
            </a:r>
            <a:endParaRPr lang="en-IN" sz="3200" dirty="0"/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F04107-8754-E47D-3375-529E689711FA}"/>
              </a:ext>
            </a:extLst>
          </p:cNvPr>
          <p:cNvSpPr txBox="1"/>
          <p:nvPr/>
        </p:nvSpPr>
        <p:spPr>
          <a:xfrm>
            <a:off x="675957" y="4546812"/>
            <a:ext cx="51019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AICTE STU ID : STU6a4b6f5ea97291783329606</a:t>
            </a:r>
          </a:p>
        </p:txBody>
      </p:sp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54602" y="1690210"/>
            <a:ext cx="7143363" cy="4432027"/>
          </a:xfrm>
        </p:spPr>
        <p:txBody>
          <a:bodyPr vert="horz" lIns="91440" tIns="45720" rIns="91440" bIns="45720" rtlCol="0" anchor="t">
            <a:normAutofit fontScale="62500" lnSpcReduction="20000"/>
          </a:bodyPr>
          <a:lstStyle/>
          <a:p>
            <a:pPr>
              <a:lnSpc>
                <a:spcPct val="150000"/>
              </a:lnSpc>
            </a:pPr>
            <a:r>
              <a:rPr lang="en-US" sz="2800" dirty="0"/>
              <a:t>Agricultural performance is influenced by seasonal variations in environmental conditions, farming practices, resource availability, and market conditions.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Raw agricultural data does not clearly reveal: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How performance changes across seasons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What patterns exist in different seasonal conditions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The problem: Analyze the seasonal agriculture dataset to identify meaningful patterns, trends, relationships, and variations in agricultural performance across Kharif, Rabi, and Zaid seasons.</a:t>
            </a:r>
            <a:endParaRPr lang="en-IN" sz="28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02" y="550417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805213"/>
            <a:ext cx="7529444" cy="830997"/>
          </a:xfrm>
        </p:spPr>
        <p:txBody>
          <a:bodyPr>
            <a:normAutofit fontScale="90000"/>
          </a:bodyPr>
          <a:lstStyle/>
          <a:p>
            <a:r>
              <a:rPr lang="en-GB" dirty="0"/>
              <a:t>Project Description</a:t>
            </a:r>
            <a:br>
              <a:rPr lang="en-GB" dirty="0"/>
            </a:br>
            <a:br>
              <a:rPr lang="en-GB" sz="2200" dirty="0"/>
            </a:br>
            <a:r>
              <a:rPr lang="en-GB" sz="2200" dirty="0"/>
              <a:t>This project </a:t>
            </a:r>
            <a:r>
              <a:rPr lang="en-GB" sz="2200" dirty="0" err="1"/>
              <a:t>analyzes</a:t>
            </a:r>
            <a:r>
              <a:rPr lang="en-GB" sz="2200" dirty="0"/>
              <a:t> seasonal agricultural performance using a dataset of 4000 farm records across Kharif, Rabi, and Zaid seasons, covering environmental, farming input, and economic factors.</a:t>
            </a:r>
            <a:br>
              <a:rPr lang="en-GB" sz="2200" dirty="0"/>
            </a:br>
            <a:r>
              <a:rPr lang="en-GB" sz="2200" dirty="0"/>
              <a:t>Approach:</a:t>
            </a:r>
            <a:br>
              <a:rPr lang="en-GB" sz="2200" dirty="0"/>
            </a:br>
            <a:r>
              <a:rPr lang="en-GB" sz="2200" dirty="0"/>
              <a:t>Cleaned missing data (season-wise median imputation)</a:t>
            </a:r>
            <a:br>
              <a:rPr lang="en-GB" sz="2200" dirty="0"/>
            </a:br>
            <a:r>
              <a:rPr lang="en-GB" sz="2200" dirty="0"/>
              <a:t>Performed EDA and seasonal comparison (yield, profit, water usage, disease risk)</a:t>
            </a:r>
            <a:br>
              <a:rPr lang="en-GB" sz="2200" dirty="0"/>
            </a:br>
            <a:r>
              <a:rPr lang="en-GB" sz="2200" dirty="0"/>
              <a:t>Created 9 visualizations (boxplots, heatmaps, bar charts)</a:t>
            </a:r>
            <a:br>
              <a:rPr lang="en-GB" sz="2200" dirty="0"/>
            </a:br>
            <a:r>
              <a:rPr lang="en-GB" sz="2200" dirty="0"/>
              <a:t>Applied ANOVA statistical test to validate seasonal differences</a:t>
            </a:r>
            <a:br>
              <a:rPr lang="en-GB" sz="2200" dirty="0"/>
            </a:br>
            <a:r>
              <a:rPr lang="en-GB" sz="2200" dirty="0"/>
              <a:t>Tools: Python, Pandas, Matplotlib, Seaborn, SciPy (Google </a:t>
            </a:r>
            <a:r>
              <a:rPr lang="en-GB" sz="2200" dirty="0" err="1"/>
              <a:t>Colab</a:t>
            </a:r>
            <a:r>
              <a:rPr lang="en-GB" sz="2200" dirty="0"/>
              <a:t>)</a:t>
            </a:r>
            <a:br>
              <a:rPr lang="en-GB" sz="2200" dirty="0"/>
            </a:br>
            <a:r>
              <a:rPr lang="en-GB" sz="2200" dirty="0"/>
              <a:t>Key Finding: Kharif shows highest yield &amp; profit; Zaid runs at a loss on average. </a:t>
            </a:r>
            <a:br>
              <a:rPr lang="en-GB" sz="2200" dirty="0"/>
            </a:br>
            <a:endParaRPr lang="en-IN" sz="2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4E3B60-2780-459A-8583-F095D5E746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1359" y="1679258"/>
            <a:ext cx="8131093" cy="4497546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1600" dirty="0"/>
              <a:t>Farmers — Season-wise crop and resource planning based on data insights</a:t>
            </a:r>
          </a:p>
          <a:p>
            <a:pPr algn="just">
              <a:lnSpc>
                <a:spcPct val="150000"/>
              </a:lnSpc>
            </a:pPr>
            <a:r>
              <a:rPr lang="en-US" sz="1600" dirty="0"/>
              <a:t>Agricultural Officers / Extension Workers — Advising farmers with evidence-based recommendations</a:t>
            </a:r>
          </a:p>
          <a:p>
            <a:pPr algn="just">
              <a:lnSpc>
                <a:spcPct val="150000"/>
              </a:lnSpc>
            </a:pPr>
            <a:r>
              <a:rPr lang="en-US" sz="1600" dirty="0"/>
              <a:t>Government Agriculture Departments — Policy-making for seasonal support schemes and subsidies</a:t>
            </a:r>
          </a:p>
          <a:p>
            <a:pPr algn="just">
              <a:lnSpc>
                <a:spcPct val="150000"/>
              </a:lnSpc>
            </a:pPr>
            <a:r>
              <a:rPr lang="en-US" sz="1600" dirty="0"/>
              <a:t>Agri-business &amp; Supply Chain Companies — Forecasting production and market planning</a:t>
            </a:r>
          </a:p>
          <a:p>
            <a:pPr algn="just">
              <a:lnSpc>
                <a:spcPct val="150000"/>
              </a:lnSpc>
            </a:pPr>
            <a:r>
              <a:rPr lang="en-US" sz="1600" dirty="0"/>
              <a:t>Researchers / Data Analysts — Further study on seasonal agricultural trends</a:t>
            </a:r>
          </a:p>
          <a:p>
            <a:pPr algn="just">
              <a:lnSpc>
                <a:spcPct val="150000"/>
              </a:lnSpc>
            </a:pPr>
            <a:r>
              <a:rPr lang="en-US" sz="1600" dirty="0"/>
              <a:t>Banks / Insurance Providers (Agri-loans) — Risk assessment based on seasonal profit/loss patterns</a:t>
            </a:r>
            <a:endParaRPr lang="en-IN" sz="16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876617"/>
            <a:ext cx="10046070" cy="802641"/>
          </a:xfrm>
        </p:spPr>
        <p:txBody>
          <a:bodyPr>
            <a:normAutofit/>
          </a:bodyPr>
          <a:lstStyle/>
          <a:p>
            <a:r>
              <a:rPr lang="en-US" sz="3200" dirty="0"/>
              <a:t>WHO ARE THE END USERS?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1C28F5-3CA3-4B78-B5C9-550C00BB31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99000" y="1376515"/>
            <a:ext cx="9027702" cy="5243448"/>
          </a:xfrm>
        </p:spPr>
        <p:txBody>
          <a:bodyPr/>
          <a:lstStyle/>
          <a:p>
            <a:pPr lvl="1">
              <a:lnSpc>
                <a:spcPct val="150000"/>
              </a:lnSpc>
            </a:pPr>
            <a:r>
              <a:rPr lang="en-IN" dirty="0"/>
              <a:t>Programming Language: Python</a:t>
            </a:r>
          </a:p>
          <a:p>
            <a:pPr lvl="1">
              <a:lnSpc>
                <a:spcPct val="150000"/>
              </a:lnSpc>
            </a:pPr>
            <a:r>
              <a:rPr lang="en-IN" dirty="0"/>
              <a:t>Platform: Google </a:t>
            </a:r>
            <a:r>
              <a:rPr lang="en-IN" dirty="0" err="1"/>
              <a:t>Colab</a:t>
            </a:r>
            <a:r>
              <a:rPr lang="en-IN" dirty="0"/>
              <a:t> (Jupyter Notebook environment)</a:t>
            </a:r>
          </a:p>
          <a:p>
            <a:pPr lvl="1">
              <a:lnSpc>
                <a:spcPct val="150000"/>
              </a:lnSpc>
            </a:pPr>
            <a:r>
              <a:rPr lang="en-IN" dirty="0"/>
              <a:t>Libraries:</a:t>
            </a:r>
          </a:p>
          <a:p>
            <a:pPr lvl="1">
              <a:lnSpc>
                <a:spcPct val="150000"/>
              </a:lnSpc>
            </a:pPr>
            <a:r>
              <a:rPr lang="en-IN" dirty="0"/>
              <a:t>Pandas, NumPy — Data cleaning &amp; manipulation</a:t>
            </a:r>
          </a:p>
          <a:p>
            <a:pPr lvl="1">
              <a:lnSpc>
                <a:spcPct val="150000"/>
              </a:lnSpc>
            </a:pPr>
            <a:r>
              <a:rPr lang="en-IN" dirty="0"/>
              <a:t>Matplotlib, Seaborn — Data visualization</a:t>
            </a:r>
          </a:p>
          <a:p>
            <a:pPr lvl="1">
              <a:lnSpc>
                <a:spcPct val="150000"/>
              </a:lnSpc>
            </a:pPr>
            <a:r>
              <a:rPr lang="en-IN" dirty="0"/>
              <a:t>SciPy — Statistical testing (ANOVA)</a:t>
            </a:r>
          </a:p>
          <a:p>
            <a:pPr lvl="1">
              <a:lnSpc>
                <a:spcPct val="150000"/>
              </a:lnSpc>
            </a:pPr>
            <a:r>
              <a:rPr lang="en-IN" dirty="0"/>
              <a:t>Data Source: CSV (Seasonal Agriculture Performance Dataset)</a:t>
            </a:r>
          </a:p>
          <a:p>
            <a:pPr lvl="1">
              <a:lnSpc>
                <a:spcPct val="150000"/>
              </a:lnSpc>
            </a:pPr>
            <a:r>
              <a:rPr lang="en-IN" dirty="0"/>
              <a:t>Presentation: Microsoft PowerPoint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430567"/>
            <a:ext cx="5306291" cy="847817"/>
          </a:xfrm>
        </p:spPr>
        <p:txBody>
          <a:bodyPr>
            <a:normAutofit/>
          </a:bodyPr>
          <a:lstStyle/>
          <a:p>
            <a:r>
              <a:rPr lang="en-US" dirty="0"/>
              <a:t>Technology Used</a:t>
            </a:r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879CE7C-8A8C-9BB5-3161-98F8392EE4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957" y="1234493"/>
            <a:ext cx="8041048" cy="5430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AAE43-B138-25CD-D01F-41DB38855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FCF24DA-3CDC-4D87-9335-AB913C783F7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D5AF756-BADB-9E87-14AC-F87A8C746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716F3BA-AE41-9B35-3BCA-353F205375D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E149068-B429-662F-714A-0DD8CE171A51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A5D5762-E7E1-B924-B923-6C15ADE64F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170" y="1404695"/>
            <a:ext cx="7305134" cy="5275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627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9E943-C59C-1D86-29CA-F786C47BA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EC6E6C7-69F2-D361-F3CC-FC5268D9BC8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FCD5524-F764-DC63-6F54-D48057CF1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B1E3463-DEAD-53DD-2AC0-E8A458421D0B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B713140B-3822-90E0-F216-B77A695B86B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BE1B241-3BE7-AC73-4AE5-0AA84C9653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601" y="1215510"/>
            <a:ext cx="10780798" cy="5271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8901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5AC1B-54F8-474D-6B86-CF23FDF34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9D7CE81-8696-30A4-F33E-B4B569D3502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15FD49EE-0956-AAE3-737B-15F7D4267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D224F8B1-34DD-5A54-7F70-25EBA532E6E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5A36120-3EFF-6A69-8D23-42BFD883ADDA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36926A0-88F2-8A4D-01A5-C6E079580C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601" y="1254247"/>
            <a:ext cx="10780798" cy="5080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979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5E38B-860F-6694-9B10-BBBF1D4110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0C5F196-368F-159E-B00F-72907561409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33FC85B-183B-C5C7-11B6-364F954E7B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8A4BBD56-FD0D-BC56-2C41-82FBF8CC70D8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D4D69CD4-8A96-722B-837D-5943F6911F3D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7327D56-EF54-2F45-5CF0-527C4E8224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01586"/>
            <a:ext cx="12192000" cy="5270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6280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E8F23B-FE20-593D-3101-DFEF814904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83006C5-4F28-1A81-EFC4-D80E302F8AE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C5F0FEAF-D48A-62D7-6D30-38736C96BE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50F6305F-11C9-3513-75A6-AEA80ECFE47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E3B74F1-DCCF-0B34-C946-88B8C8C7E6EA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C7BB474-F717-6DF8-7894-E8809C0C19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957" y="1275371"/>
            <a:ext cx="8984878" cy="5053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201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25CEF6-F5CF-859B-5D71-3E84677A8E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1329D02-AC65-4FBF-E492-698CE475B15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420EE46-A9CD-B817-A1AA-AFA9E855B7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56C7756-7592-3F3B-D102-F7735A8262BF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797E44D9-8240-44B3-3521-AF0388782C97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CDADCF9-ED0C-B5BF-1009-3748F43949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409" y="1201586"/>
            <a:ext cx="10416207" cy="5656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96919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B68033-B04B-1850-AE1A-8F52B31ACF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2583481-19F0-2394-AEB1-A7B1CE829FD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B6971628-AD31-9E5A-5D1B-322D792A8F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AF9BAF15-2735-48E7-54D8-0A64CEDDCB3E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A5E8713B-F181-E736-72F3-24B5B0D9E780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2970CB0-3ED2-D4E3-F082-22BCA15A60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130" y="1254247"/>
            <a:ext cx="9170505" cy="5233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40805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6D0808-5362-063A-EBC4-0A2972F009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8C53527-76E8-A927-FC83-2005AAD3871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1701DF79-5090-D9EA-D2AB-3C9B7A883D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65AEE3AF-CC0B-298B-998B-B89D358628E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07094F3-501C-1DB7-96BF-1D983AC86CA7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84AA768-C5FE-CAAA-EB2D-6511CB9EB4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957" y="1275371"/>
            <a:ext cx="9659132" cy="5142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10610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E94ED-1743-306E-1CA1-9410A2B50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506C61-5206-F1DF-9994-DED24DFB1C6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B097C2C-D75A-31D4-CD9F-366F39CDE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4735798" cy="830997"/>
          </a:xfrm>
        </p:spPr>
        <p:txBody>
          <a:bodyPr>
            <a:normAutofit/>
          </a:bodyPr>
          <a:lstStyle/>
          <a:p>
            <a:r>
              <a:rPr lang="en-IN" sz="4000" dirty="0"/>
              <a:t>Future scope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B7444DDE-63A3-9721-77CC-C93FED110DAF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C8A8B73-0C64-E012-F561-D7FE5E322230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B7AD8E-621A-C599-E6BD-456653A30462}"/>
              </a:ext>
            </a:extLst>
          </p:cNvPr>
          <p:cNvSpPr txBox="1"/>
          <p:nvPr/>
        </p:nvSpPr>
        <p:spPr>
          <a:xfrm>
            <a:off x="320982" y="1275371"/>
            <a:ext cx="8544722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Apply Machine Learning models to predict yield/profit based on season and environmental factors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Include more seasons/years of historical data for deeper trend analysis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Build an interactive dashboard (Power BI / Tableau) for real-time seasonal monitoring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Incorporate weather forecasting data to give farmers proactive seasonal recommendations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Extend analysis to region-wise soil health mapping for precision agriculture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Develop a mobile app to deliver seasonal insights directly to farmers</a:t>
            </a:r>
          </a:p>
        </p:txBody>
      </p:sp>
    </p:spTree>
    <p:extLst>
      <p:ext uri="{BB962C8B-B14F-4D97-AF65-F5344CB8AC3E}">
        <p14:creationId xmlns:p14="http://schemas.microsoft.com/office/powerpoint/2010/main" val="776828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316CE-193E-3D5D-C15A-98517303A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D44118A-0276-9E2F-E0E8-85CEE9F1E0C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01A2257-2F98-CB88-038E-C0F1D0A1A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4735798" cy="830997"/>
          </a:xfrm>
        </p:spPr>
        <p:txBody>
          <a:bodyPr>
            <a:normAutofit/>
          </a:bodyPr>
          <a:lstStyle/>
          <a:p>
            <a:r>
              <a:rPr lang="en-IN" sz="4000" dirty="0"/>
              <a:t>GitHub Link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AF1C8809-654A-4DD1-BB18-87B8B6C020B9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F7D0B46-DEEA-1B5E-FE84-59D11F3B110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863610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66297-EA5A-44FA-6968-26D32B9B1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B12FC48-BC6E-8635-A49E-73EF17CEDC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42B692F6-18B4-BC16-EA0C-48FFBD562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8351388" cy="884658"/>
          </a:xfrm>
        </p:spPr>
        <p:txBody>
          <a:bodyPr>
            <a:normAutofit fontScale="90000"/>
          </a:bodyPr>
          <a:lstStyle/>
          <a:p>
            <a:r>
              <a:rPr lang="en-IN" sz="3200" dirty="0"/>
              <a:t>VOIS Course completion certificate - </a:t>
            </a:r>
            <a:br>
              <a:rPr lang="en-IN" sz="3200" dirty="0"/>
            </a:br>
            <a:r>
              <a:rPr lang="en-IN" sz="3200" dirty="0"/>
              <a:t>Course name- Data Visualization 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069BD300-7A70-B076-3B4C-43081E893162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8C1854F2-9914-C22F-FF0B-693CD1D0F966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D1E8D44-7CD2-0639-948B-A64AF0D285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688" y="1608410"/>
            <a:ext cx="8589926" cy="4936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802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anchor="ctr">
            <a:normAutofit fontScale="90000"/>
          </a:bodyPr>
          <a:lstStyle/>
          <a:p>
            <a:pPr algn="ctr"/>
            <a:r>
              <a:rPr lang="en-US" sz="4800" b="1" dirty="0">
                <a:solidFill>
                  <a:schemeClr val="tx1"/>
                </a:solidFill>
              </a:rPr>
              <a:t>Thank you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602</TotalTime>
  <Words>452</Words>
  <Application>Microsoft Office PowerPoint</Application>
  <PresentationFormat>Widescreen</PresentationFormat>
  <Paragraphs>49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Calibri</vt:lpstr>
      <vt:lpstr>Trebuchet MS</vt:lpstr>
      <vt:lpstr>Wingdings</vt:lpstr>
      <vt:lpstr>Wingdings 3</vt:lpstr>
      <vt:lpstr>Facet</vt:lpstr>
      <vt:lpstr>Project Title – Seasonal Agricultural Performance Analysis</vt:lpstr>
      <vt:lpstr>PROBLEM  STATEMENT</vt:lpstr>
      <vt:lpstr>Project Description  This project analyzes seasonal agricultural performance using a dataset of 4000 farm records across Kharif, Rabi, and Zaid seasons, covering environmental, farming input, and economic factors. Approach: Cleaned missing data (season-wise median imputation) Performed EDA and seasonal comparison (yield, profit, water usage, disease risk) Created 9 visualizations (boxplots, heatmaps, bar charts) Applied ANOVA statistical test to validate seasonal differences Tools: Python, Pandas, Matplotlib, Seaborn, SciPy (Google Colab) Key Finding: Kharif shows highest yield &amp; profit; Zaid runs at a loss on average.  </vt:lpstr>
      <vt:lpstr>WHO ARE THE END USERS?</vt:lpstr>
      <vt:lpstr>Technology Used</vt:lpstr>
      <vt:lpstr>RESULTS </vt:lpstr>
      <vt:lpstr>RESULTS </vt:lpstr>
      <vt:lpstr>RESULTS </vt:lpstr>
      <vt:lpstr>RESULTS </vt:lpstr>
      <vt:lpstr>RESULTS </vt:lpstr>
      <vt:lpstr>RESULTS </vt:lpstr>
      <vt:lpstr>RESULTS </vt:lpstr>
      <vt:lpstr>RESULTS </vt:lpstr>
      <vt:lpstr>RESULTS </vt:lpstr>
      <vt:lpstr>Future scope</vt:lpstr>
      <vt:lpstr>GitHub Link</vt:lpstr>
      <vt:lpstr>VOIS Course completion certificate -  Course name- Data Visualization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User</cp:lastModifiedBy>
  <cp:revision>98</cp:revision>
  <dcterms:created xsi:type="dcterms:W3CDTF">2021-07-11T13:13:15Z</dcterms:created>
  <dcterms:modified xsi:type="dcterms:W3CDTF">2026-09-05T06:06:08Z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